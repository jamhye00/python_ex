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02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113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57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4409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459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108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98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592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450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07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91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37078-70D5-45EE-B047-76AAE8799840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59C9B-820D-4E4A-8830-37BD1277C2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87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476597" y="3258589"/>
            <a:ext cx="11238807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아래쪽 화살표 5"/>
          <p:cNvSpPr/>
          <p:nvPr/>
        </p:nvSpPr>
        <p:spPr>
          <a:xfrm>
            <a:off x="683075" y="3708008"/>
            <a:ext cx="806245" cy="658761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 rot="10800000">
            <a:off x="683075" y="2085966"/>
            <a:ext cx="806245" cy="658761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17987" y="3391058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Local repository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7986" y="2744727"/>
            <a:ext cx="2121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Remote repository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8000352" y="4601497"/>
            <a:ext cx="1071717" cy="1071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8000352" y="1145458"/>
            <a:ext cx="1071717" cy="1071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>
            <a:stCxn id="16" idx="0"/>
          </p:cNvCxnSpPr>
          <p:nvPr/>
        </p:nvCxnSpPr>
        <p:spPr>
          <a:xfrm flipH="1" flipV="1">
            <a:off x="8536210" y="2223337"/>
            <a:ext cx="1" cy="237816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49538" y="2996979"/>
            <a:ext cx="97334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 smtClean="0"/>
              <a:t>push</a:t>
            </a:r>
            <a:endParaRPr lang="ko-KR" altLang="en-US" sz="2800" dirty="0"/>
          </a:p>
        </p:txBody>
      </p:sp>
      <p:sp>
        <p:nvSpPr>
          <p:cNvPr id="23" name="타원 22"/>
          <p:cNvSpPr/>
          <p:nvPr/>
        </p:nvSpPr>
        <p:spPr>
          <a:xfrm>
            <a:off x="1877826" y="4601496"/>
            <a:ext cx="1071717" cy="1071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3378608" y="4875744"/>
            <a:ext cx="80342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 smtClean="0"/>
              <a:t>add</a:t>
            </a:r>
            <a:endParaRPr lang="ko-KR" altLang="en-US" sz="2800" dirty="0"/>
          </a:p>
        </p:txBody>
      </p:sp>
      <p:sp>
        <p:nvSpPr>
          <p:cNvPr id="25" name="타원 24"/>
          <p:cNvSpPr/>
          <p:nvPr/>
        </p:nvSpPr>
        <p:spPr>
          <a:xfrm>
            <a:off x="4515396" y="4601495"/>
            <a:ext cx="1071717" cy="1071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4240775" y="5795060"/>
            <a:ext cx="162095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 smtClean="0"/>
              <a:t>관리대상</a:t>
            </a:r>
            <a:endParaRPr lang="ko-KR" altLang="en-US" sz="2800" dirty="0"/>
          </a:p>
        </p:txBody>
      </p:sp>
      <p:sp>
        <p:nvSpPr>
          <p:cNvPr id="27" name="TextBox 26"/>
          <p:cNvSpPr txBox="1"/>
          <p:nvPr/>
        </p:nvSpPr>
        <p:spPr>
          <a:xfrm>
            <a:off x="6035625" y="4875744"/>
            <a:ext cx="141256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 smtClean="0"/>
              <a:t>commit</a:t>
            </a:r>
            <a:endParaRPr lang="ko-KR" altLang="en-US" sz="2800" dirty="0"/>
          </a:p>
        </p:txBody>
      </p:sp>
      <p:sp>
        <p:nvSpPr>
          <p:cNvPr id="28" name="TextBox 27"/>
          <p:cNvSpPr txBox="1"/>
          <p:nvPr/>
        </p:nvSpPr>
        <p:spPr>
          <a:xfrm>
            <a:off x="7841947" y="5807698"/>
            <a:ext cx="1388522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 smtClean="0"/>
              <a:t>관리 끝</a:t>
            </a:r>
            <a:endParaRPr lang="ko-KR" altLang="en-US" sz="2800" dirty="0"/>
          </a:p>
        </p:txBody>
      </p:sp>
      <p:sp>
        <p:nvSpPr>
          <p:cNvPr id="29" name="타원 28"/>
          <p:cNvSpPr/>
          <p:nvPr/>
        </p:nvSpPr>
        <p:spPr>
          <a:xfrm>
            <a:off x="10173682" y="4601497"/>
            <a:ext cx="1071717" cy="1071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10173682" y="1145458"/>
            <a:ext cx="1071717" cy="1071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화살표 연결선 30"/>
          <p:cNvCxnSpPr>
            <a:stCxn id="30" idx="4"/>
            <a:endCxn id="29" idx="0"/>
          </p:cNvCxnSpPr>
          <p:nvPr/>
        </p:nvCxnSpPr>
        <p:spPr>
          <a:xfrm>
            <a:off x="10709541" y="2217175"/>
            <a:ext cx="0" cy="2384322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553617" y="2996979"/>
            <a:ext cx="2311851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 smtClean="0"/>
              <a:t>Clone or pull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51060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476597" y="3258589"/>
            <a:ext cx="11402290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아래쪽 화살표 5"/>
          <p:cNvSpPr/>
          <p:nvPr/>
        </p:nvSpPr>
        <p:spPr>
          <a:xfrm>
            <a:off x="683075" y="3708008"/>
            <a:ext cx="806245" cy="658761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아래쪽 화살표 6"/>
          <p:cNvSpPr/>
          <p:nvPr/>
        </p:nvSpPr>
        <p:spPr>
          <a:xfrm rot="10800000">
            <a:off x="683075" y="2085966"/>
            <a:ext cx="806245" cy="658761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0" y="3391058"/>
            <a:ext cx="2866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Local repository academy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7986" y="2744727"/>
            <a:ext cx="2121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Remote repository</a:t>
            </a:r>
            <a:endParaRPr lang="ko-KR" altLang="en-US" dirty="0"/>
          </a:p>
        </p:txBody>
      </p:sp>
      <p:sp>
        <p:nvSpPr>
          <p:cNvPr id="17" name="타원 16"/>
          <p:cNvSpPr/>
          <p:nvPr/>
        </p:nvSpPr>
        <p:spPr>
          <a:xfrm>
            <a:off x="6177742" y="692281"/>
            <a:ext cx="1071717" cy="1071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++-</a:t>
            </a:r>
            <a:endParaRPr lang="ko-KR" altLang="en-US" sz="2400" dirty="0"/>
          </a:p>
        </p:txBody>
      </p:sp>
      <p:cxnSp>
        <p:nvCxnSpPr>
          <p:cNvPr id="3" name="직선 연결선 2"/>
          <p:cNvCxnSpPr/>
          <p:nvPr/>
        </p:nvCxnSpPr>
        <p:spPr>
          <a:xfrm>
            <a:off x="6724996" y="3258589"/>
            <a:ext cx="0" cy="3167149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아래쪽 화살표 32"/>
          <p:cNvSpPr/>
          <p:nvPr/>
        </p:nvSpPr>
        <p:spPr>
          <a:xfrm>
            <a:off x="7737719" y="3720070"/>
            <a:ext cx="806245" cy="658761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6904775" y="3403120"/>
            <a:ext cx="2534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/>
              <a:t>Local repository home</a:t>
            </a:r>
            <a:endParaRPr lang="ko-KR" altLang="en-US" dirty="0"/>
          </a:p>
        </p:txBody>
      </p:sp>
      <p:sp>
        <p:nvSpPr>
          <p:cNvPr id="35" name="타원 34"/>
          <p:cNvSpPr/>
          <p:nvPr/>
        </p:nvSpPr>
        <p:spPr>
          <a:xfrm>
            <a:off x="9936479" y="4753181"/>
            <a:ext cx="1071717" cy="1071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++-</a:t>
            </a:r>
            <a:endParaRPr lang="ko-KR" alt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476597" y="451296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20260506ex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7780815" y="4472831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home</a:t>
            </a:r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464587" y="1422252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20260506ex</a:t>
            </a:r>
            <a:endParaRPr lang="ko-KR" altLang="en-US" dirty="0"/>
          </a:p>
        </p:txBody>
      </p:sp>
      <p:sp>
        <p:nvSpPr>
          <p:cNvPr id="39" name="타원 38"/>
          <p:cNvSpPr/>
          <p:nvPr/>
        </p:nvSpPr>
        <p:spPr>
          <a:xfrm>
            <a:off x="2874562" y="4512967"/>
            <a:ext cx="1071717" cy="10717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++-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99359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9905" y="1213658"/>
            <a:ext cx="3049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1  2  3  4  5  6  7  8  9  10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399905" y="1939236"/>
            <a:ext cx="1988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1 </a:t>
            </a:r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# </a:t>
            </a:r>
            <a:r>
              <a:rPr lang="ko-KR" alt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실행구문</a:t>
            </a:r>
            <a:endParaRPr lang="ko-KR" alt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399905" y="2329350"/>
            <a:ext cx="1988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2 </a:t>
            </a:r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# </a:t>
            </a:r>
            <a:r>
              <a:rPr lang="ko-KR" alt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실행구문</a:t>
            </a:r>
            <a:endParaRPr lang="ko-KR" alt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399905" y="2756287"/>
            <a:ext cx="1988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3 </a:t>
            </a:r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# </a:t>
            </a:r>
            <a:r>
              <a:rPr lang="ko-KR" alt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실행구문</a:t>
            </a:r>
            <a:endParaRPr lang="ko-KR" alt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399905" y="3206410"/>
            <a:ext cx="1988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4 </a:t>
            </a:r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# </a:t>
            </a:r>
            <a:r>
              <a:rPr lang="ko-KR" alt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실행구문</a:t>
            </a:r>
            <a:endParaRPr lang="ko-KR" alt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399905" y="4281522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10 </a:t>
            </a:r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# </a:t>
            </a:r>
            <a:r>
              <a:rPr lang="ko-KR" alt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실행구문</a:t>
            </a:r>
            <a:endParaRPr lang="ko-KR" alt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3399904" y="3706742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  <a:latin typeface="Consolas" panose="020B0609020204030204" pitchFamily="49" charset="0"/>
              </a:rPr>
              <a:t>…</a:t>
            </a:r>
            <a:endParaRPr lang="ko-KR" alt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673" y="205453"/>
            <a:ext cx="5457825" cy="96202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6900333" y="1831235"/>
            <a:ext cx="16764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1 : </a:t>
            </a:r>
            <a:r>
              <a:rPr lang="ko-KR" altLang="en-US" dirty="0" err="1" smtClean="0"/>
              <a:t>hello</a:t>
            </a:r>
            <a:endParaRPr lang="ko-KR" altLang="en-US" dirty="0"/>
          </a:p>
          <a:p>
            <a:r>
              <a:rPr lang="en-US" altLang="ko-KR" dirty="0" smtClean="0"/>
              <a:t>2 </a:t>
            </a:r>
            <a:r>
              <a:rPr lang="en-US" altLang="ko-KR" dirty="0"/>
              <a:t>: </a:t>
            </a:r>
            <a:r>
              <a:rPr lang="ko-KR" altLang="en-US" dirty="0" err="1" smtClean="0"/>
              <a:t>hello</a:t>
            </a:r>
            <a:endParaRPr lang="ko-KR" altLang="en-US" dirty="0"/>
          </a:p>
          <a:p>
            <a:r>
              <a:rPr lang="en-US" altLang="ko-KR" dirty="0" smtClean="0"/>
              <a:t>3 </a:t>
            </a:r>
            <a:r>
              <a:rPr lang="en-US" altLang="ko-KR" dirty="0"/>
              <a:t>: </a:t>
            </a:r>
            <a:r>
              <a:rPr lang="ko-KR" altLang="en-US" dirty="0" err="1" smtClean="0"/>
              <a:t>hello</a:t>
            </a:r>
            <a:endParaRPr lang="ko-KR" altLang="en-US" dirty="0"/>
          </a:p>
          <a:p>
            <a:r>
              <a:rPr lang="en-US" altLang="ko-KR" dirty="0" smtClean="0"/>
              <a:t>4 </a:t>
            </a:r>
            <a:r>
              <a:rPr lang="en-US" altLang="ko-KR" dirty="0"/>
              <a:t>: </a:t>
            </a:r>
            <a:r>
              <a:rPr lang="ko-KR" altLang="en-US" dirty="0" err="1" smtClean="0"/>
              <a:t>hello</a:t>
            </a:r>
            <a:endParaRPr lang="ko-KR" altLang="en-US" dirty="0"/>
          </a:p>
          <a:p>
            <a:r>
              <a:rPr lang="en-US" altLang="ko-KR" dirty="0" smtClean="0"/>
              <a:t>5 </a:t>
            </a:r>
            <a:r>
              <a:rPr lang="en-US" altLang="ko-KR" dirty="0"/>
              <a:t>: </a:t>
            </a:r>
            <a:r>
              <a:rPr lang="ko-KR" altLang="en-US" dirty="0" err="1" smtClean="0"/>
              <a:t>hello</a:t>
            </a:r>
            <a:endParaRPr lang="ko-KR" altLang="en-US" dirty="0"/>
          </a:p>
          <a:p>
            <a:r>
              <a:rPr lang="en-US" altLang="ko-KR" dirty="0" smtClean="0"/>
              <a:t>6 </a:t>
            </a:r>
            <a:r>
              <a:rPr lang="en-US" altLang="ko-KR" dirty="0"/>
              <a:t>: </a:t>
            </a:r>
            <a:r>
              <a:rPr lang="ko-KR" altLang="en-US" dirty="0" err="1" smtClean="0"/>
              <a:t>hello</a:t>
            </a:r>
            <a:endParaRPr lang="ko-KR" altLang="en-US" dirty="0"/>
          </a:p>
          <a:p>
            <a:r>
              <a:rPr lang="en-US" altLang="ko-KR" dirty="0" smtClean="0"/>
              <a:t>7 </a:t>
            </a:r>
            <a:r>
              <a:rPr lang="en-US" altLang="ko-KR" dirty="0"/>
              <a:t>: </a:t>
            </a:r>
            <a:r>
              <a:rPr lang="ko-KR" altLang="en-US" dirty="0" err="1" smtClean="0"/>
              <a:t>hello</a:t>
            </a:r>
            <a:endParaRPr lang="ko-KR" altLang="en-US" dirty="0"/>
          </a:p>
          <a:p>
            <a:r>
              <a:rPr lang="en-US" altLang="ko-KR" dirty="0" smtClean="0"/>
              <a:t>8 </a:t>
            </a:r>
            <a:r>
              <a:rPr lang="en-US" altLang="ko-KR" dirty="0"/>
              <a:t>: </a:t>
            </a:r>
            <a:r>
              <a:rPr lang="ko-KR" altLang="en-US" dirty="0" err="1" smtClean="0"/>
              <a:t>hello</a:t>
            </a:r>
            <a:endParaRPr lang="ko-KR" altLang="en-US" dirty="0"/>
          </a:p>
          <a:p>
            <a:r>
              <a:rPr lang="en-US" altLang="ko-KR" dirty="0" smtClean="0"/>
              <a:t>9 </a:t>
            </a:r>
            <a:r>
              <a:rPr lang="en-US" altLang="ko-KR" dirty="0"/>
              <a:t>: </a:t>
            </a:r>
            <a:r>
              <a:rPr lang="ko-KR" altLang="en-US" dirty="0" err="1" smtClean="0"/>
              <a:t>hello</a:t>
            </a:r>
            <a:endParaRPr lang="ko-KR" altLang="en-US" dirty="0"/>
          </a:p>
          <a:p>
            <a:r>
              <a:rPr lang="en-US" altLang="ko-KR" dirty="0" smtClean="0"/>
              <a:t>10 </a:t>
            </a:r>
            <a:r>
              <a:rPr lang="en-US" altLang="ko-KR" dirty="0"/>
              <a:t>: </a:t>
            </a:r>
            <a:r>
              <a:rPr lang="ko-KR" altLang="en-US" dirty="0" err="1" smtClean="0"/>
              <a:t>hello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27696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9590" y="406781"/>
            <a:ext cx="33541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ko-KR" altLang="en-US" sz="2400" dirty="0" smtClean="0"/>
              <a:t>기초 데이터 타입</a:t>
            </a:r>
            <a:endParaRPr lang="en-US" altLang="ko-KR" sz="2400" dirty="0" smtClean="0"/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ko-KR" altLang="en-US" sz="2400" dirty="0" smtClean="0"/>
              <a:t>레퍼런스 데이터 타입</a:t>
            </a:r>
            <a:endParaRPr lang="ko-KR" altLang="en-US" sz="2400" dirty="0"/>
          </a:p>
        </p:txBody>
      </p:sp>
      <p:sp>
        <p:nvSpPr>
          <p:cNvPr id="5" name="직사각형 4"/>
          <p:cNvSpPr/>
          <p:nvPr/>
        </p:nvSpPr>
        <p:spPr>
          <a:xfrm>
            <a:off x="10224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9202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8180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7157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6135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5113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64091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3068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82046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91024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0002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0224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19202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8180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7157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46135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5113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4091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3068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82046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91024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00002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10224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19202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28180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37157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46135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55113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64091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73068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2046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91024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100002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10224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19202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28180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37157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46135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55113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64091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73068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82046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91024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100002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10237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19215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28193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37170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46148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/>
          <p:cNvSpPr/>
          <p:nvPr/>
        </p:nvSpPr>
        <p:spPr>
          <a:xfrm>
            <a:off x="55126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64104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73081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82059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91037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100015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812524" y="406781"/>
            <a:ext cx="1810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num</a:t>
            </a:r>
            <a:r>
              <a:rPr lang="en-US" altLang="ko-KR" dirty="0" smtClean="0"/>
              <a:t> = 10</a:t>
            </a:r>
          </a:p>
          <a:p>
            <a:r>
              <a:rPr lang="en-US" altLang="ko-KR" dirty="0" err="1" smtClean="0"/>
              <a:t>myNum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num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41955" y="2583473"/>
            <a:ext cx="65434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num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06876" y="3019583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10</a:t>
            </a:r>
            <a:endParaRPr lang="ko-KR" altLang="en-US" sz="2400" dirty="0"/>
          </a:p>
        </p:txBody>
      </p:sp>
      <p:sp>
        <p:nvSpPr>
          <p:cNvPr id="73" name="TextBox 72"/>
          <p:cNvSpPr txBox="1"/>
          <p:nvPr/>
        </p:nvSpPr>
        <p:spPr>
          <a:xfrm>
            <a:off x="2752379" y="3464622"/>
            <a:ext cx="101502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myNum</a:t>
            </a:r>
            <a:endParaRPr lang="ko-KR" alt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2996339" y="3900732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10</a:t>
            </a:r>
            <a:endParaRPr lang="ko-KR" altLang="en-US" sz="2400" dirty="0"/>
          </a:p>
        </p:txBody>
      </p:sp>
      <p:cxnSp>
        <p:nvCxnSpPr>
          <p:cNvPr id="12" name="꺾인 연결선 11"/>
          <p:cNvCxnSpPr>
            <a:stCxn id="8" idx="2"/>
            <a:endCxn id="74" idx="1"/>
          </p:cNvCxnSpPr>
          <p:nvPr/>
        </p:nvCxnSpPr>
        <p:spPr>
          <a:xfrm rot="16200000" flipH="1">
            <a:off x="2357575" y="3492800"/>
            <a:ext cx="650317" cy="627211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190105" y="406780"/>
            <a:ext cx="311905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fruits = [‘</a:t>
            </a:r>
            <a:r>
              <a:rPr lang="ko-KR" altLang="en-US" dirty="0" smtClean="0"/>
              <a:t>사과</a:t>
            </a:r>
            <a:r>
              <a:rPr lang="en-US" altLang="ko-KR" dirty="0" smtClean="0"/>
              <a:t>’, ‘</a:t>
            </a:r>
            <a:r>
              <a:rPr lang="ko-KR" altLang="en-US" dirty="0" smtClean="0"/>
              <a:t>수박</a:t>
            </a:r>
            <a:r>
              <a:rPr lang="en-US" altLang="ko-KR" dirty="0" smtClean="0"/>
              <a:t>’, ‘</a:t>
            </a:r>
            <a:r>
              <a:rPr lang="ko-KR" altLang="en-US" dirty="0" smtClean="0"/>
              <a:t>멜론</a:t>
            </a:r>
            <a:r>
              <a:rPr lang="en-US" altLang="ko-KR" dirty="0" smtClean="0"/>
              <a:t>’]</a:t>
            </a:r>
          </a:p>
          <a:p>
            <a:r>
              <a:rPr lang="en-US" altLang="ko-KR" dirty="0" err="1" smtClean="0"/>
              <a:t>myFruits</a:t>
            </a:r>
            <a:r>
              <a:rPr lang="en-US" altLang="ko-KR" dirty="0" smtClean="0"/>
              <a:t> = fruits</a:t>
            </a:r>
          </a:p>
          <a:p>
            <a:r>
              <a:rPr lang="en-US" altLang="ko-KR" dirty="0" smtClean="0"/>
              <a:t>fruits</a:t>
            </a:r>
            <a:r>
              <a:rPr lang="ko-KR" altLang="en-US" dirty="0" smtClean="0"/>
              <a:t> </a:t>
            </a:r>
            <a:r>
              <a:rPr lang="en-US" altLang="ko-KR" dirty="0" smtClean="0"/>
              <a:t>= 20</a:t>
            </a:r>
          </a:p>
          <a:p>
            <a:r>
              <a:rPr lang="en-US" altLang="ko-KR" dirty="0" err="1" smtClean="0"/>
              <a:t>myFruits</a:t>
            </a:r>
            <a:r>
              <a:rPr lang="en-US" altLang="ko-KR" dirty="0" smtClean="0"/>
              <a:t> = 3.14</a:t>
            </a:r>
            <a:endParaRPr lang="en-US" altLang="ko-KR" dirty="0"/>
          </a:p>
        </p:txBody>
      </p:sp>
      <p:sp>
        <p:nvSpPr>
          <p:cNvPr id="77" name="TextBox 76"/>
          <p:cNvSpPr txBox="1"/>
          <p:nvPr/>
        </p:nvSpPr>
        <p:spPr>
          <a:xfrm>
            <a:off x="7432612" y="30157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사과</a:t>
            </a:r>
            <a:endParaRPr lang="ko-KR" alt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8330387" y="30157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수박</a:t>
            </a:r>
            <a:endParaRPr lang="ko-KR" alt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9228162" y="30157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멜론</a:t>
            </a:r>
            <a:endParaRPr lang="ko-KR" alt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7428605" y="2583473"/>
            <a:ext cx="5645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123</a:t>
            </a:r>
            <a:endParaRPr lang="ko-KR" alt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8359632" y="2583474"/>
            <a:ext cx="5645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124</a:t>
            </a:r>
            <a:endParaRPr lang="ko-KR" alt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9257412" y="2587322"/>
            <a:ext cx="5645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125</a:t>
            </a:r>
            <a:endParaRPr lang="ko-KR" alt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5633055" y="3488944"/>
            <a:ext cx="70884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fruits</a:t>
            </a:r>
            <a:endParaRPr lang="ko-KR" alt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5666307" y="394168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20</a:t>
            </a:r>
            <a:endParaRPr lang="ko-KR" altLang="en-US" sz="2400" dirty="0"/>
          </a:p>
        </p:txBody>
      </p:sp>
      <p:cxnSp>
        <p:nvCxnSpPr>
          <p:cNvPr id="85" name="꺾인 연결선 84"/>
          <p:cNvCxnSpPr>
            <a:stCxn id="84" idx="3"/>
            <a:endCxn id="80" idx="1"/>
          </p:cNvCxnSpPr>
          <p:nvPr/>
        </p:nvCxnSpPr>
        <p:spPr>
          <a:xfrm flipV="1">
            <a:off x="6190810" y="2768139"/>
            <a:ext cx="1237795" cy="140437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6324042" y="5243546"/>
            <a:ext cx="1067921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myFruits</a:t>
            </a:r>
            <a:endParaRPr lang="ko-KR" alt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6491451" y="5679657"/>
            <a:ext cx="761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3.14</a:t>
            </a:r>
            <a:endParaRPr lang="ko-KR" altLang="en-US" sz="2400" dirty="0"/>
          </a:p>
        </p:txBody>
      </p:sp>
      <p:cxnSp>
        <p:nvCxnSpPr>
          <p:cNvPr id="90" name="꺾인 연결선 89"/>
          <p:cNvCxnSpPr>
            <a:stCxn id="84" idx="2"/>
            <a:endCxn id="89" idx="1"/>
          </p:cNvCxnSpPr>
          <p:nvPr/>
        </p:nvCxnSpPr>
        <p:spPr>
          <a:xfrm rot="16200000" flipH="1">
            <a:off x="5456433" y="4875471"/>
            <a:ext cx="1507145" cy="562892"/>
          </a:xfrm>
          <a:prstGeom prst="bentConnector2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stCxn id="89" idx="3"/>
            <a:endCxn id="80" idx="2"/>
          </p:cNvCxnSpPr>
          <p:nvPr/>
        </p:nvCxnSpPr>
        <p:spPr>
          <a:xfrm flipV="1">
            <a:off x="7253198" y="2952805"/>
            <a:ext cx="457696" cy="2957685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530089" y="3003170"/>
            <a:ext cx="5533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 smtClean="0">
                <a:solidFill>
                  <a:srgbClr val="FF0000"/>
                </a:solidFill>
              </a:rPr>
              <a:t>X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432513" y="4046926"/>
            <a:ext cx="5533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 smtClean="0">
                <a:solidFill>
                  <a:srgbClr val="FF0000"/>
                </a:solidFill>
              </a:rPr>
              <a:t>X</a:t>
            </a:r>
            <a:endParaRPr lang="ko-KR" altLang="en-US" sz="4400" b="1" dirty="0">
              <a:solidFill>
                <a:srgbClr val="FF0000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1022466" y="1391256"/>
            <a:ext cx="6758247" cy="4069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GC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6172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224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9202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8180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7157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6135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5113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64091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3068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82046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91024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0002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0224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19202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8180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7157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46135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5113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4091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3068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82046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91024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00002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10224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19202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28180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37157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46135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55113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64091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73068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2046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91024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100002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10224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19202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28180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37157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46135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55113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64091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73068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82046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91024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100002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10237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19215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28193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37170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46148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/>
          <p:cNvSpPr/>
          <p:nvPr/>
        </p:nvSpPr>
        <p:spPr>
          <a:xfrm>
            <a:off x="55126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64104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73081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82059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91037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100015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7432612" y="30157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사과</a:t>
            </a:r>
            <a:endParaRPr lang="ko-KR" alt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8330387" y="30157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수박</a:t>
            </a:r>
            <a:endParaRPr lang="ko-KR" alt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9228162" y="30157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멜론</a:t>
            </a:r>
            <a:endParaRPr lang="ko-KR" alt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7428605" y="2583473"/>
            <a:ext cx="5645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123</a:t>
            </a:r>
            <a:endParaRPr lang="ko-KR" alt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8359632" y="2583474"/>
            <a:ext cx="5645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124</a:t>
            </a:r>
            <a:endParaRPr lang="ko-KR" alt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9257412" y="2587322"/>
            <a:ext cx="5645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125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195653" y="698270"/>
            <a:ext cx="2957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[‘</a:t>
            </a:r>
            <a:r>
              <a:rPr lang="ko-KR" altLang="en-US" dirty="0" smtClean="0"/>
              <a:t>사과</a:t>
            </a:r>
            <a:r>
              <a:rPr lang="en-US" altLang="ko-KR" dirty="0" smtClean="0"/>
              <a:t>’, ‘</a:t>
            </a:r>
            <a:r>
              <a:rPr lang="ko-KR" altLang="en-US" dirty="0" smtClean="0"/>
              <a:t>수박</a:t>
            </a:r>
            <a:r>
              <a:rPr lang="en-US" altLang="ko-KR" dirty="0" smtClean="0"/>
              <a:t>’, ‘</a:t>
            </a:r>
            <a:r>
              <a:rPr lang="ko-KR" altLang="en-US" dirty="0" smtClean="0"/>
              <a:t>멜론</a:t>
            </a:r>
            <a:r>
              <a:rPr lang="en-US" altLang="ko-KR" dirty="0" smtClean="0"/>
              <a:t>’, ‘</a:t>
            </a:r>
            <a:r>
              <a:rPr lang="ko-KR" altLang="en-US" dirty="0" smtClean="0"/>
              <a:t>포도</a:t>
            </a:r>
            <a:r>
              <a:rPr lang="en-US" altLang="ko-KR" dirty="0" smtClean="0"/>
              <a:t>’]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538790" y="216234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0</a:t>
            </a:r>
            <a:endParaRPr lang="ko-KR" altLang="en-US" sz="2400" dirty="0"/>
          </a:p>
        </p:txBody>
      </p:sp>
      <p:sp>
        <p:nvSpPr>
          <p:cNvPr id="86" name="TextBox 85"/>
          <p:cNvSpPr txBox="1"/>
          <p:nvPr/>
        </p:nvSpPr>
        <p:spPr>
          <a:xfrm>
            <a:off x="8464629" y="216234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1</a:t>
            </a:r>
            <a:endParaRPr lang="ko-KR" altLang="en-US" sz="2400" dirty="0"/>
          </a:p>
        </p:txBody>
      </p:sp>
      <p:sp>
        <p:nvSpPr>
          <p:cNvPr id="87" name="TextBox 86"/>
          <p:cNvSpPr txBox="1"/>
          <p:nvPr/>
        </p:nvSpPr>
        <p:spPr>
          <a:xfrm>
            <a:off x="9363325" y="216234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2</a:t>
            </a:r>
            <a:endParaRPr lang="ko-KR" altLang="en-US" sz="2400" dirty="0"/>
          </a:p>
        </p:txBody>
      </p:sp>
      <p:sp>
        <p:nvSpPr>
          <p:cNvPr id="91" name="TextBox 90"/>
          <p:cNvSpPr txBox="1"/>
          <p:nvPr/>
        </p:nvSpPr>
        <p:spPr>
          <a:xfrm>
            <a:off x="7853083" y="1897364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인덱스</a:t>
            </a:r>
            <a:r>
              <a:rPr lang="en-US" altLang="ko-KR" dirty="0" smtClean="0"/>
              <a:t>(index)</a:t>
            </a:r>
            <a:endParaRPr lang="ko-KR" alt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10125937" y="301188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포도</a:t>
            </a:r>
            <a:endParaRPr lang="ko-KR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10155187" y="2583473"/>
            <a:ext cx="56457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126</a:t>
            </a:r>
            <a:endParaRPr lang="ko-KR" alt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10262872" y="2162343"/>
            <a:ext cx="3545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smtClean="0"/>
              <a:t>3</a:t>
            </a:r>
            <a:endParaRPr lang="ko-KR" altLang="en-US" sz="2400" dirty="0"/>
          </a:p>
        </p:txBody>
      </p:sp>
      <p:sp>
        <p:nvSpPr>
          <p:cNvPr id="96" name="TextBox 95"/>
          <p:cNvSpPr txBox="1"/>
          <p:nvPr/>
        </p:nvSpPr>
        <p:spPr>
          <a:xfrm>
            <a:off x="3815221" y="3464622"/>
            <a:ext cx="70884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fruits</a:t>
            </a:r>
            <a:endParaRPr lang="ko-KR" altLang="en-US" dirty="0"/>
          </a:p>
        </p:txBody>
      </p:sp>
      <p:sp>
        <p:nvSpPr>
          <p:cNvPr id="100" name="TextBox 99"/>
          <p:cNvSpPr txBox="1"/>
          <p:nvPr/>
        </p:nvSpPr>
        <p:spPr>
          <a:xfrm>
            <a:off x="3860639" y="399306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123</a:t>
            </a:r>
            <a:endParaRPr lang="ko-KR" altLang="en-US" dirty="0"/>
          </a:p>
        </p:txBody>
      </p:sp>
      <p:cxnSp>
        <p:nvCxnSpPr>
          <p:cNvPr id="10" name="꺾인 연결선 9"/>
          <p:cNvCxnSpPr>
            <a:stCxn id="100" idx="3"/>
            <a:endCxn id="80" idx="1"/>
          </p:cNvCxnSpPr>
          <p:nvPr/>
        </p:nvCxnSpPr>
        <p:spPr>
          <a:xfrm flipV="1">
            <a:off x="4425217" y="2768139"/>
            <a:ext cx="3003388" cy="1409592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879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224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9202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8180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7157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6135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5113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64091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3068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82046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91024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0002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0224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19202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8180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7157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46135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5113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4091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3068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82046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91024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00002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10224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19202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28180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37157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46135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55113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64091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73068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2046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91024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100002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10224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19202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28180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37157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46135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55113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64091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73068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82046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91024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100002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10237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19215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28193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37170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46148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/>
          <p:cNvSpPr/>
          <p:nvPr/>
        </p:nvSpPr>
        <p:spPr>
          <a:xfrm>
            <a:off x="55126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64104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73081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82059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91037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100015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27316" y="382025"/>
            <a:ext cx="2805576" cy="181588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altLang="ko-KR" sz="1400" dirty="0"/>
              <a:t>num1 = 10</a:t>
            </a:r>
          </a:p>
          <a:p>
            <a:r>
              <a:rPr lang="pt-BR" altLang="ko-KR" sz="1400" dirty="0"/>
              <a:t>num2 = num1</a:t>
            </a:r>
          </a:p>
          <a:p>
            <a:r>
              <a:rPr lang="pt-BR" altLang="ko-KR" sz="1400" dirty="0"/>
              <a:t>print(f'num1: {num1}')      # </a:t>
            </a:r>
            <a:r>
              <a:rPr lang="pt-BR" altLang="ko-KR" sz="1400" dirty="0" smtClean="0"/>
              <a:t>10</a:t>
            </a:r>
            <a:endParaRPr lang="pt-BR" altLang="ko-KR" sz="1400" dirty="0"/>
          </a:p>
          <a:p>
            <a:r>
              <a:rPr lang="pt-BR" altLang="ko-KR" sz="1400" dirty="0"/>
              <a:t>print(f'num2: {num2}')      # </a:t>
            </a:r>
            <a:r>
              <a:rPr lang="pt-BR" altLang="ko-KR" sz="1400" dirty="0" smtClean="0"/>
              <a:t>10</a:t>
            </a:r>
          </a:p>
          <a:p>
            <a:endParaRPr lang="pt-BR" altLang="ko-KR" sz="1400" dirty="0"/>
          </a:p>
          <a:p>
            <a:r>
              <a:rPr lang="en-US" altLang="ko-KR" sz="1400" dirty="0"/>
              <a:t>num1 = 100</a:t>
            </a:r>
          </a:p>
          <a:p>
            <a:r>
              <a:rPr lang="en-US" altLang="ko-KR" sz="1400" dirty="0"/>
              <a:t>print(f'num1: {num1}')      # 100</a:t>
            </a:r>
          </a:p>
          <a:p>
            <a:r>
              <a:rPr lang="en-US" altLang="ko-KR" sz="1400" dirty="0"/>
              <a:t>print(f'num2: {num2}')      # 10</a:t>
            </a:r>
            <a:endParaRPr lang="ko-KR" alt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1103115" y="3464622"/>
            <a:ext cx="78098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num1</a:t>
            </a:r>
            <a:endParaRPr lang="ko-KR" alt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1148533" y="399306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100</a:t>
            </a:r>
            <a:endParaRPr lang="ko-KR" alt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3755406" y="2566847"/>
            <a:ext cx="78098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num2</a:t>
            </a:r>
            <a:endParaRPr lang="ko-KR" alt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908677" y="312084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</a:t>
            </a:r>
            <a:endParaRPr lang="ko-KR" altLang="en-US" dirty="0"/>
          </a:p>
        </p:txBody>
      </p:sp>
      <p:cxnSp>
        <p:nvCxnSpPr>
          <p:cNvPr id="7" name="꺾인 연결선 6"/>
          <p:cNvCxnSpPr>
            <a:stCxn id="76" idx="3"/>
            <a:endCxn id="84" idx="1"/>
          </p:cNvCxnSpPr>
          <p:nvPr/>
        </p:nvCxnSpPr>
        <p:spPr>
          <a:xfrm flipV="1">
            <a:off x="1713111" y="3305511"/>
            <a:ext cx="2195566" cy="872220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2066" y="382025"/>
            <a:ext cx="3350597" cy="160043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nums1 = [1, 2, 3]</a:t>
            </a:r>
          </a:p>
          <a:p>
            <a:r>
              <a:rPr lang="en-US" altLang="ko-KR" sz="1400" dirty="0"/>
              <a:t>nums2 = nums1</a:t>
            </a:r>
          </a:p>
          <a:p>
            <a:r>
              <a:rPr lang="en-US" altLang="ko-KR" sz="1400" dirty="0"/>
              <a:t>print(f'nums1: {nums1}')    # [1, 2, 3]</a:t>
            </a:r>
          </a:p>
          <a:p>
            <a:r>
              <a:rPr lang="en-US" altLang="ko-KR" sz="1400" dirty="0"/>
              <a:t>print(f'nums2: {nums2}')    # [1, 2, 3</a:t>
            </a:r>
            <a:r>
              <a:rPr lang="en-US" altLang="ko-KR" sz="1400" dirty="0" smtClean="0"/>
              <a:t>]</a:t>
            </a:r>
          </a:p>
          <a:p>
            <a:endParaRPr lang="en-US" altLang="ko-KR" sz="1400" dirty="0"/>
          </a:p>
          <a:p>
            <a:r>
              <a:rPr lang="en-US" altLang="ko-KR" sz="1400" dirty="0"/>
              <a:t>nums1[0] = 100</a:t>
            </a:r>
          </a:p>
          <a:p>
            <a:r>
              <a:rPr lang="en-US" altLang="ko-KR" sz="1400" dirty="0"/>
              <a:t>print(f'nums1: {nums1}')    # [100, 2, 3]</a:t>
            </a:r>
            <a:endParaRPr lang="ko-KR" altLang="en-US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7520194" y="391350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100</a:t>
            </a:r>
            <a:endParaRPr lang="ko-KR" alt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8471553" y="39135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9319957" y="39550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9102836" y="2545173"/>
            <a:ext cx="88036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nums1</a:t>
            </a:r>
            <a:endParaRPr lang="ko-KR" alt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7365287" y="3496704"/>
            <a:ext cx="798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0x123</a:t>
            </a:r>
            <a:endParaRPr lang="ko-KR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9143203" y="3095290"/>
            <a:ext cx="798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0x123</a:t>
            </a:r>
            <a:endParaRPr lang="ko-KR" altLang="en-US" dirty="0"/>
          </a:p>
        </p:txBody>
      </p:sp>
      <p:cxnSp>
        <p:nvCxnSpPr>
          <p:cNvPr id="98" name="꺾인 연결선 97"/>
          <p:cNvCxnSpPr>
            <a:stCxn id="94" idx="0"/>
            <a:endCxn id="97" idx="1"/>
          </p:cNvCxnSpPr>
          <p:nvPr/>
        </p:nvCxnSpPr>
        <p:spPr>
          <a:xfrm rot="5400000" flipH="1" flipV="1">
            <a:off x="8345525" y="2699027"/>
            <a:ext cx="216748" cy="1378607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417818" y="5228090"/>
            <a:ext cx="88036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nums2</a:t>
            </a:r>
            <a:endParaRPr lang="ko-KR" alt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6440444" y="5730426"/>
            <a:ext cx="798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0x123</a:t>
            </a:r>
            <a:endParaRPr lang="ko-KR" altLang="en-US" dirty="0"/>
          </a:p>
        </p:txBody>
      </p:sp>
      <p:cxnSp>
        <p:nvCxnSpPr>
          <p:cNvPr id="102" name="꺾인 연결선 101"/>
          <p:cNvCxnSpPr>
            <a:stCxn id="97" idx="3"/>
            <a:endCxn id="101" idx="3"/>
          </p:cNvCxnSpPr>
          <p:nvPr/>
        </p:nvCxnSpPr>
        <p:spPr>
          <a:xfrm flipH="1">
            <a:off x="7239061" y="3279956"/>
            <a:ext cx="2702759" cy="2635136"/>
          </a:xfrm>
          <a:prstGeom prst="bentConnector3">
            <a:avLst>
              <a:gd name="adj1" fmla="val -845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 102"/>
          <p:cNvCxnSpPr>
            <a:stCxn id="99" idx="0"/>
            <a:endCxn id="47" idx="1"/>
          </p:cNvCxnSpPr>
          <p:nvPr/>
        </p:nvCxnSpPr>
        <p:spPr>
          <a:xfrm rot="5400000" flipH="1" flipV="1">
            <a:off x="6517490" y="4438689"/>
            <a:ext cx="1129914" cy="448888"/>
          </a:xfrm>
          <a:prstGeom prst="bentConnector2">
            <a:avLst/>
          </a:prstGeom>
          <a:ln w="539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stCxn id="90" idx="1"/>
            <a:endCxn id="47" idx="1"/>
          </p:cNvCxnSpPr>
          <p:nvPr/>
        </p:nvCxnSpPr>
        <p:spPr>
          <a:xfrm rot="10800000" flipV="1">
            <a:off x="7306892" y="2729838"/>
            <a:ext cx="1795945" cy="1368337"/>
          </a:xfrm>
          <a:prstGeom prst="bentConnector3">
            <a:avLst>
              <a:gd name="adj1" fmla="val 138649"/>
            </a:avLst>
          </a:prstGeom>
          <a:ln w="539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3424844" y="216131"/>
            <a:ext cx="0" cy="1471353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552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224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9202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8180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7157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6135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5113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64091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3068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82046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91024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0002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0224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19202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8180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7157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46135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5113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4091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3068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82046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91024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00002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10224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19202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28180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37157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46135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55113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64091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73068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2046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91024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100002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10224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19202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28180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37157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46135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55113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64091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73068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82046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91024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100002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10237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19215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28193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37170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46148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/>
          <p:cNvSpPr/>
          <p:nvPr/>
        </p:nvSpPr>
        <p:spPr>
          <a:xfrm>
            <a:off x="55126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64104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73081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82059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91037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100015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27316" y="382025"/>
            <a:ext cx="2805576" cy="181588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altLang="ko-KR" sz="1400" dirty="0"/>
              <a:t>num1 = 10</a:t>
            </a:r>
          </a:p>
          <a:p>
            <a:r>
              <a:rPr lang="pt-BR" altLang="ko-KR" sz="1400" dirty="0"/>
              <a:t>num2 = num1</a:t>
            </a:r>
          </a:p>
          <a:p>
            <a:r>
              <a:rPr lang="pt-BR" altLang="ko-KR" sz="1400" dirty="0"/>
              <a:t>print(f'num1: {num1}')      # </a:t>
            </a:r>
            <a:r>
              <a:rPr lang="pt-BR" altLang="ko-KR" sz="1400" dirty="0" smtClean="0"/>
              <a:t>10</a:t>
            </a:r>
            <a:endParaRPr lang="pt-BR" altLang="ko-KR" sz="1400" dirty="0"/>
          </a:p>
          <a:p>
            <a:r>
              <a:rPr lang="pt-BR" altLang="ko-KR" sz="1400" dirty="0"/>
              <a:t>print(f'num2: {num2}')      # </a:t>
            </a:r>
            <a:r>
              <a:rPr lang="pt-BR" altLang="ko-KR" sz="1400" dirty="0" smtClean="0"/>
              <a:t>10</a:t>
            </a:r>
          </a:p>
          <a:p>
            <a:endParaRPr lang="pt-BR" altLang="ko-KR" sz="1400" dirty="0"/>
          </a:p>
          <a:p>
            <a:r>
              <a:rPr lang="en-US" altLang="ko-KR" sz="1400" dirty="0"/>
              <a:t>num1 = 100</a:t>
            </a:r>
          </a:p>
          <a:p>
            <a:r>
              <a:rPr lang="en-US" altLang="ko-KR" sz="1400" dirty="0"/>
              <a:t>print(f'num1: {num1}')      # 100</a:t>
            </a:r>
          </a:p>
          <a:p>
            <a:r>
              <a:rPr lang="en-US" altLang="ko-KR" sz="1400" dirty="0"/>
              <a:t>print(f'num2: {num2}')      # 10</a:t>
            </a:r>
            <a:endParaRPr lang="ko-KR" alt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1103115" y="3464622"/>
            <a:ext cx="78098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num1</a:t>
            </a:r>
            <a:endParaRPr lang="ko-KR" alt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1148533" y="3993065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100</a:t>
            </a:r>
            <a:endParaRPr lang="ko-KR" alt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3755406" y="2566847"/>
            <a:ext cx="78098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num2</a:t>
            </a:r>
            <a:endParaRPr lang="ko-KR" alt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3908677" y="312084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</a:t>
            </a:r>
            <a:endParaRPr lang="ko-KR" altLang="en-US" dirty="0"/>
          </a:p>
        </p:txBody>
      </p:sp>
      <p:cxnSp>
        <p:nvCxnSpPr>
          <p:cNvPr id="7" name="꺾인 연결선 6"/>
          <p:cNvCxnSpPr>
            <a:stCxn id="76" idx="3"/>
            <a:endCxn id="84" idx="1"/>
          </p:cNvCxnSpPr>
          <p:nvPr/>
        </p:nvCxnSpPr>
        <p:spPr>
          <a:xfrm flipV="1">
            <a:off x="1713111" y="3305511"/>
            <a:ext cx="2195566" cy="872220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42066" y="382025"/>
            <a:ext cx="3350597" cy="160043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nums1 = [1, 2, 3]</a:t>
            </a:r>
          </a:p>
          <a:p>
            <a:r>
              <a:rPr lang="en-US" altLang="ko-KR" sz="1400" dirty="0"/>
              <a:t>nums2 = nums1</a:t>
            </a:r>
          </a:p>
          <a:p>
            <a:r>
              <a:rPr lang="en-US" altLang="ko-KR" sz="1400" dirty="0"/>
              <a:t>print(f'nums1: {nums1}')    # [1, 2, 3]</a:t>
            </a:r>
          </a:p>
          <a:p>
            <a:r>
              <a:rPr lang="en-US" altLang="ko-KR" sz="1400" dirty="0"/>
              <a:t>print(f'nums2: {nums2}')    # [1, 2, 3</a:t>
            </a:r>
            <a:r>
              <a:rPr lang="en-US" altLang="ko-KR" sz="1400" dirty="0" smtClean="0"/>
              <a:t>]</a:t>
            </a:r>
          </a:p>
          <a:p>
            <a:endParaRPr lang="en-US" altLang="ko-KR" sz="1400" dirty="0"/>
          </a:p>
          <a:p>
            <a:r>
              <a:rPr lang="en-US" altLang="ko-KR" sz="1400" dirty="0"/>
              <a:t>nums1[0] = 100</a:t>
            </a:r>
          </a:p>
          <a:p>
            <a:r>
              <a:rPr lang="en-US" altLang="ko-KR" sz="1400" dirty="0"/>
              <a:t>print(f'nums1: {nums1}')    # [100, 2, 3]</a:t>
            </a:r>
            <a:endParaRPr lang="ko-KR" altLang="en-US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7520194" y="391350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100</a:t>
            </a:r>
            <a:endParaRPr lang="ko-KR" altLang="en-US" dirty="0"/>
          </a:p>
        </p:txBody>
      </p:sp>
      <p:sp>
        <p:nvSpPr>
          <p:cNvPr id="88" name="TextBox 87"/>
          <p:cNvSpPr txBox="1"/>
          <p:nvPr/>
        </p:nvSpPr>
        <p:spPr>
          <a:xfrm>
            <a:off x="8471553" y="391350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89" name="TextBox 88"/>
          <p:cNvSpPr txBox="1"/>
          <p:nvPr/>
        </p:nvSpPr>
        <p:spPr>
          <a:xfrm>
            <a:off x="9319957" y="395507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90" name="TextBox 89"/>
          <p:cNvSpPr txBox="1"/>
          <p:nvPr/>
        </p:nvSpPr>
        <p:spPr>
          <a:xfrm>
            <a:off x="9102836" y="2545173"/>
            <a:ext cx="88036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nums1</a:t>
            </a:r>
            <a:endParaRPr lang="ko-KR" altLang="en-US" dirty="0"/>
          </a:p>
        </p:txBody>
      </p:sp>
      <p:sp>
        <p:nvSpPr>
          <p:cNvPr id="94" name="TextBox 93"/>
          <p:cNvSpPr txBox="1"/>
          <p:nvPr/>
        </p:nvSpPr>
        <p:spPr>
          <a:xfrm>
            <a:off x="7365287" y="3496704"/>
            <a:ext cx="798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0x123</a:t>
            </a:r>
            <a:endParaRPr lang="ko-KR" altLang="en-US" dirty="0"/>
          </a:p>
        </p:txBody>
      </p:sp>
      <p:sp>
        <p:nvSpPr>
          <p:cNvPr id="97" name="TextBox 96"/>
          <p:cNvSpPr txBox="1"/>
          <p:nvPr/>
        </p:nvSpPr>
        <p:spPr>
          <a:xfrm>
            <a:off x="9143203" y="3095290"/>
            <a:ext cx="798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0x123</a:t>
            </a:r>
            <a:endParaRPr lang="ko-KR" altLang="en-US" dirty="0"/>
          </a:p>
        </p:txBody>
      </p:sp>
      <p:cxnSp>
        <p:nvCxnSpPr>
          <p:cNvPr id="98" name="꺾인 연결선 97"/>
          <p:cNvCxnSpPr>
            <a:stCxn id="94" idx="0"/>
            <a:endCxn id="97" idx="1"/>
          </p:cNvCxnSpPr>
          <p:nvPr/>
        </p:nvCxnSpPr>
        <p:spPr>
          <a:xfrm rot="5400000" flipH="1" flipV="1">
            <a:off x="8345525" y="2699027"/>
            <a:ext cx="216748" cy="1378607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6417818" y="5228090"/>
            <a:ext cx="880369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nums2</a:t>
            </a:r>
            <a:endParaRPr lang="ko-KR" altLang="en-US" dirty="0"/>
          </a:p>
        </p:txBody>
      </p:sp>
      <p:sp>
        <p:nvSpPr>
          <p:cNvPr id="101" name="TextBox 100"/>
          <p:cNvSpPr txBox="1"/>
          <p:nvPr/>
        </p:nvSpPr>
        <p:spPr>
          <a:xfrm>
            <a:off x="6440444" y="5730426"/>
            <a:ext cx="798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0x567</a:t>
            </a:r>
            <a:endParaRPr lang="ko-KR" altLang="en-US" dirty="0"/>
          </a:p>
        </p:txBody>
      </p:sp>
      <p:cxnSp>
        <p:nvCxnSpPr>
          <p:cNvPr id="104" name="꺾인 연결선 103"/>
          <p:cNvCxnSpPr>
            <a:stCxn id="90" idx="1"/>
            <a:endCxn id="47" idx="1"/>
          </p:cNvCxnSpPr>
          <p:nvPr/>
        </p:nvCxnSpPr>
        <p:spPr>
          <a:xfrm rot="10800000" flipV="1">
            <a:off x="7306892" y="2729838"/>
            <a:ext cx="1795945" cy="1368337"/>
          </a:xfrm>
          <a:prstGeom prst="bentConnector3">
            <a:avLst>
              <a:gd name="adj1" fmla="val 138649"/>
            </a:avLst>
          </a:prstGeom>
          <a:ln w="539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3424844" y="216131"/>
            <a:ext cx="0" cy="1471353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520194" y="327514"/>
            <a:ext cx="3427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ko-KR" sz="1600" dirty="0"/>
              <a:t>for idx, num in enumerate(nums1):</a:t>
            </a:r>
          </a:p>
          <a:p>
            <a:r>
              <a:rPr lang="pt-BR" altLang="ko-KR" sz="1600" dirty="0"/>
              <a:t>    nums2[idx] = num</a:t>
            </a:r>
            <a:endParaRPr lang="ko-KR" altLang="en-US" sz="1600" dirty="0"/>
          </a:p>
        </p:txBody>
      </p:sp>
      <p:cxnSp>
        <p:nvCxnSpPr>
          <p:cNvPr id="78" name="직선 연결선 77"/>
          <p:cNvCxnSpPr/>
          <p:nvPr/>
        </p:nvCxnSpPr>
        <p:spPr>
          <a:xfrm>
            <a:off x="7326288" y="327514"/>
            <a:ext cx="0" cy="1471353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3971995" y="48112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4927106" y="48112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5685956" y="48112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82" name="TextBox 81"/>
          <p:cNvSpPr txBox="1"/>
          <p:nvPr/>
        </p:nvSpPr>
        <p:spPr>
          <a:xfrm>
            <a:off x="3794568" y="4329455"/>
            <a:ext cx="798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0x567</a:t>
            </a:r>
            <a:endParaRPr lang="ko-KR" altLang="en-US" dirty="0"/>
          </a:p>
        </p:txBody>
      </p:sp>
      <p:cxnSp>
        <p:nvCxnSpPr>
          <p:cNvPr id="86" name="꺾인 연결선 85"/>
          <p:cNvCxnSpPr>
            <a:stCxn id="68" idx="1"/>
            <a:endCxn id="82" idx="0"/>
          </p:cNvCxnSpPr>
          <p:nvPr/>
        </p:nvCxnSpPr>
        <p:spPr>
          <a:xfrm rot="10800000">
            <a:off x="4193877" y="4329456"/>
            <a:ext cx="2216536" cy="1564271"/>
          </a:xfrm>
          <a:prstGeom prst="bentConnector4">
            <a:avLst>
              <a:gd name="adj1" fmla="val 9865"/>
              <a:gd name="adj2" fmla="val 11461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24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224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9202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8180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7157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6135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5113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64091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3068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82046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91024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0002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0224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19202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8180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7157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46135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5113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4091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3068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82046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91024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00002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10224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19202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28180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37157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46135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55113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64091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73068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2046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91024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100002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10224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19202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28180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37157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46135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55113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64091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73068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82046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91024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100002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10237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19215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28193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37170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46148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/>
          <p:cNvSpPr/>
          <p:nvPr/>
        </p:nvSpPr>
        <p:spPr>
          <a:xfrm>
            <a:off x="55126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64104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73081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82059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91037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100015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587731" y="365760"/>
            <a:ext cx="29268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listVar1 = [1, 2, 3]</a:t>
            </a:r>
          </a:p>
          <a:p>
            <a:r>
              <a:rPr lang="en-US" altLang="ko-KR" dirty="0"/>
              <a:t>listVar2 = [1, 2, 3, listVar1</a:t>
            </a:r>
            <a:r>
              <a:rPr lang="en-US" altLang="ko-KR" dirty="0" smtClean="0"/>
              <a:t>]</a:t>
            </a:r>
          </a:p>
          <a:p>
            <a:endParaRPr lang="en-US" altLang="ko-KR" dirty="0"/>
          </a:p>
          <a:p>
            <a:r>
              <a:rPr lang="en-US" altLang="ko-KR" dirty="0" smtClean="0"/>
              <a:t>listVar2[3][1]</a:t>
            </a:r>
            <a:endParaRPr lang="ko-KR" alt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3971995" y="48112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4927106" y="48112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92" name="TextBox 91"/>
          <p:cNvSpPr txBox="1"/>
          <p:nvPr/>
        </p:nvSpPr>
        <p:spPr>
          <a:xfrm>
            <a:off x="5685956" y="481128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93" name="TextBox 92"/>
          <p:cNvSpPr txBox="1"/>
          <p:nvPr/>
        </p:nvSpPr>
        <p:spPr>
          <a:xfrm>
            <a:off x="3794568" y="4329455"/>
            <a:ext cx="798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0x123</a:t>
            </a:r>
            <a:endParaRPr lang="ko-KR" altLang="en-US" dirty="0"/>
          </a:p>
        </p:txBody>
      </p:sp>
      <p:sp>
        <p:nvSpPr>
          <p:cNvPr id="95" name="TextBox 94"/>
          <p:cNvSpPr txBox="1"/>
          <p:nvPr/>
        </p:nvSpPr>
        <p:spPr>
          <a:xfrm>
            <a:off x="1858870" y="3464622"/>
            <a:ext cx="93301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listVar1</a:t>
            </a:r>
            <a:endParaRPr lang="ko-KR" alt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1940622" y="4013262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0x123</a:t>
            </a:r>
            <a:endParaRPr lang="ko-KR" altLang="en-US" dirty="0"/>
          </a:p>
        </p:txBody>
      </p:sp>
      <p:cxnSp>
        <p:nvCxnSpPr>
          <p:cNvPr id="100" name="꺾인 연결선 99"/>
          <p:cNvCxnSpPr>
            <a:stCxn id="95" idx="3"/>
            <a:endCxn id="93" idx="1"/>
          </p:cNvCxnSpPr>
          <p:nvPr/>
        </p:nvCxnSpPr>
        <p:spPr>
          <a:xfrm>
            <a:off x="2791882" y="3649288"/>
            <a:ext cx="1002686" cy="864833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680554" y="1725200"/>
            <a:ext cx="93301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listVar2</a:t>
            </a:r>
            <a:endParaRPr lang="ko-KR" alt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5847543" y="30255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05" name="TextBox 104"/>
          <p:cNvSpPr txBox="1"/>
          <p:nvPr/>
        </p:nvSpPr>
        <p:spPr>
          <a:xfrm>
            <a:off x="6802654" y="30255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06" name="TextBox 105"/>
          <p:cNvSpPr txBox="1"/>
          <p:nvPr/>
        </p:nvSpPr>
        <p:spPr>
          <a:xfrm>
            <a:off x="7561504" y="302552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08" name="TextBox 107"/>
          <p:cNvSpPr txBox="1"/>
          <p:nvPr/>
        </p:nvSpPr>
        <p:spPr>
          <a:xfrm>
            <a:off x="5560919" y="2586428"/>
            <a:ext cx="79861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0x456</a:t>
            </a:r>
            <a:endParaRPr lang="ko-KR" altLang="en-US" dirty="0"/>
          </a:p>
        </p:txBody>
      </p:sp>
      <p:sp>
        <p:nvSpPr>
          <p:cNvPr id="109" name="TextBox 108"/>
          <p:cNvSpPr txBox="1"/>
          <p:nvPr/>
        </p:nvSpPr>
        <p:spPr>
          <a:xfrm>
            <a:off x="3747751" y="2238356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0x456</a:t>
            </a:r>
            <a:endParaRPr lang="ko-KR" altLang="en-US" dirty="0"/>
          </a:p>
        </p:txBody>
      </p:sp>
      <p:cxnSp>
        <p:nvCxnSpPr>
          <p:cNvPr id="110" name="꺾인 연결선 109"/>
          <p:cNvCxnSpPr>
            <a:stCxn id="109" idx="3"/>
            <a:endCxn id="108" idx="1"/>
          </p:cNvCxnSpPr>
          <p:nvPr/>
        </p:nvCxnSpPr>
        <p:spPr>
          <a:xfrm>
            <a:off x="4546368" y="2423022"/>
            <a:ext cx="1014551" cy="34807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8303824" y="3015734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0x123</a:t>
            </a:r>
            <a:endParaRPr lang="ko-KR" altLang="en-US" dirty="0"/>
          </a:p>
        </p:txBody>
      </p:sp>
      <p:cxnSp>
        <p:nvCxnSpPr>
          <p:cNvPr id="113" name="꺾인 연결선 112"/>
          <p:cNvCxnSpPr>
            <a:stCxn id="112" idx="2"/>
            <a:endCxn id="93" idx="3"/>
          </p:cNvCxnSpPr>
          <p:nvPr/>
        </p:nvCxnSpPr>
        <p:spPr>
          <a:xfrm rot="5400000">
            <a:off x="6083632" y="1894619"/>
            <a:ext cx="1129055" cy="4109948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351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224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9202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8180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7157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6135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5113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64091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3068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82046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91024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0002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0224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19202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8180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7157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46135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5113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4091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3068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82046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91024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00002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10224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19202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28180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37157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46135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55113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64091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73068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2046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91024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100002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10224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19202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28180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37157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46135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55113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64091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73068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82046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91024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100002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10237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19215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28193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37170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46148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/>
          <p:cNvSpPr/>
          <p:nvPr/>
        </p:nvSpPr>
        <p:spPr>
          <a:xfrm>
            <a:off x="55126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64104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73081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82059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91037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100015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897775" y="586631"/>
            <a:ext cx="8844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dicts</a:t>
            </a:r>
            <a:r>
              <a:rPr lang="en-US" altLang="ko-KR" dirty="0" smtClean="0"/>
              <a:t> = {</a:t>
            </a:r>
            <a:r>
              <a:rPr lang="en-US" altLang="ko-KR" dirty="0"/>
              <a:t>'name': '</a:t>
            </a:r>
            <a:r>
              <a:rPr lang="ko-KR" altLang="en-US" dirty="0"/>
              <a:t>박찬호</a:t>
            </a:r>
            <a:r>
              <a:rPr lang="en-US" altLang="ko-KR" dirty="0"/>
              <a:t>', 'age': 20, '</a:t>
            </a:r>
            <a:r>
              <a:rPr lang="en-US" altLang="ko-KR" dirty="0" err="1"/>
              <a:t>addr</a:t>
            </a:r>
            <a:r>
              <a:rPr lang="en-US" altLang="ko-KR" dirty="0"/>
              <a:t>': '</a:t>
            </a:r>
            <a:r>
              <a:rPr lang="ko-KR" altLang="en-US" dirty="0"/>
              <a:t>대전 중구</a:t>
            </a:r>
            <a:r>
              <a:rPr lang="en-US" altLang="ko-KR" dirty="0"/>
              <a:t>', 'hobby': ['</a:t>
            </a:r>
            <a:r>
              <a:rPr lang="ko-KR" altLang="en-US" dirty="0"/>
              <a:t>축구</a:t>
            </a:r>
            <a:r>
              <a:rPr lang="en-US" altLang="ko-KR" dirty="0"/>
              <a:t>', '</a:t>
            </a:r>
            <a:r>
              <a:rPr lang="ko-KR" altLang="en-US" dirty="0"/>
              <a:t>농구</a:t>
            </a:r>
            <a:r>
              <a:rPr lang="en-US" altLang="ko-KR" dirty="0"/>
              <a:t>', '</a:t>
            </a:r>
            <a:r>
              <a:rPr lang="ko-KR" altLang="en-US" dirty="0"/>
              <a:t>배구</a:t>
            </a:r>
            <a:r>
              <a:rPr lang="en-US" altLang="ko-KR" dirty="0" smtClean="0"/>
              <a:t>']}</a:t>
            </a:r>
          </a:p>
          <a:p>
            <a:r>
              <a:rPr lang="en-US" altLang="ko-KR" dirty="0" smtClean="0"/>
              <a:t>print(</a:t>
            </a:r>
            <a:r>
              <a:rPr lang="en-US" altLang="ko-KR" dirty="0" err="1" smtClean="0"/>
              <a:t>dicts</a:t>
            </a:r>
            <a:r>
              <a:rPr lang="en-US" altLang="ko-KR" dirty="0" smtClean="0"/>
              <a:t>[‘</a:t>
            </a:r>
            <a:r>
              <a:rPr lang="en-US" altLang="ko-KR" dirty="0"/>
              <a:t>name</a:t>
            </a:r>
            <a:r>
              <a:rPr lang="en-US" altLang="ko-KR" dirty="0" smtClean="0"/>
              <a:t>’])     # </a:t>
            </a:r>
            <a:r>
              <a:rPr lang="ko-KR" altLang="en-US" dirty="0" smtClean="0"/>
              <a:t>박찬호</a:t>
            </a:r>
            <a:endParaRPr lang="ko-KR" altLang="en-US" dirty="0"/>
          </a:p>
        </p:txBody>
      </p:sp>
      <p:sp>
        <p:nvSpPr>
          <p:cNvPr id="74" name="TextBox 73"/>
          <p:cNvSpPr txBox="1"/>
          <p:nvPr/>
        </p:nvSpPr>
        <p:spPr>
          <a:xfrm>
            <a:off x="2034741" y="2566847"/>
            <a:ext cx="66877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dicts</a:t>
            </a:r>
            <a:endParaRPr lang="ko-KR" alt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3797040" y="3464622"/>
            <a:ext cx="76495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name</a:t>
            </a:r>
            <a:endParaRPr lang="ko-KR" altLang="en-US" dirty="0"/>
          </a:p>
        </p:txBody>
      </p:sp>
      <p:sp>
        <p:nvSpPr>
          <p:cNvPr id="76" name="TextBox 75"/>
          <p:cNvSpPr txBox="1"/>
          <p:nvPr/>
        </p:nvSpPr>
        <p:spPr>
          <a:xfrm>
            <a:off x="3748408" y="387579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박찬호</a:t>
            </a:r>
            <a:endParaRPr lang="ko-KR" alt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5676336" y="2591786"/>
            <a:ext cx="56778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age</a:t>
            </a:r>
            <a:endParaRPr lang="ko-KR" alt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5741258" y="311933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20</a:t>
            </a:r>
            <a:endParaRPr lang="ko-KR" altLang="en-US" dirty="0"/>
          </a:p>
        </p:txBody>
      </p:sp>
      <p:sp>
        <p:nvSpPr>
          <p:cNvPr id="79" name="TextBox 78"/>
          <p:cNvSpPr txBox="1"/>
          <p:nvPr/>
        </p:nvSpPr>
        <p:spPr>
          <a:xfrm>
            <a:off x="4744353" y="5261065"/>
            <a:ext cx="665567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addr</a:t>
            </a:r>
            <a:endParaRPr lang="ko-KR" alt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4482262" y="578861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대전 중구</a:t>
            </a:r>
            <a:endParaRPr lang="ko-KR" altLang="en-US" dirty="0"/>
          </a:p>
        </p:txBody>
      </p:sp>
      <p:sp>
        <p:nvSpPr>
          <p:cNvPr id="81" name="TextBox 80"/>
          <p:cNvSpPr txBox="1"/>
          <p:nvPr/>
        </p:nvSpPr>
        <p:spPr>
          <a:xfrm>
            <a:off x="6407819" y="4389123"/>
            <a:ext cx="845103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hobby</a:t>
            </a:r>
            <a:endParaRPr lang="ko-KR" altLang="en-US" dirty="0"/>
          </a:p>
        </p:txBody>
      </p:sp>
      <p:sp>
        <p:nvSpPr>
          <p:cNvPr id="83" name="TextBox 82"/>
          <p:cNvSpPr txBox="1"/>
          <p:nvPr/>
        </p:nvSpPr>
        <p:spPr>
          <a:xfrm>
            <a:off x="8330387" y="21180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축구</a:t>
            </a:r>
            <a:endParaRPr lang="ko-KR" alt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9228162" y="21180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농</a:t>
            </a:r>
            <a:r>
              <a:rPr lang="ko-KR" altLang="en-US" smtClean="0"/>
              <a:t>구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10125937" y="214289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배구</a:t>
            </a:r>
            <a:endParaRPr lang="ko-KR" altLang="en-US" dirty="0"/>
          </a:p>
        </p:txBody>
      </p:sp>
      <p:sp>
        <p:nvSpPr>
          <p:cNvPr id="86" name="TextBox 85"/>
          <p:cNvSpPr txBox="1"/>
          <p:nvPr/>
        </p:nvSpPr>
        <p:spPr>
          <a:xfrm>
            <a:off x="8271764" y="1669072"/>
            <a:ext cx="8306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0X123</a:t>
            </a:r>
            <a:endParaRPr lang="ko-KR" altLang="en-US" dirty="0"/>
          </a:p>
        </p:txBody>
      </p:sp>
      <p:sp>
        <p:nvSpPr>
          <p:cNvPr id="87" name="TextBox 86"/>
          <p:cNvSpPr txBox="1"/>
          <p:nvPr/>
        </p:nvSpPr>
        <p:spPr>
          <a:xfrm>
            <a:off x="6422245" y="4891733"/>
            <a:ext cx="83067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0X123</a:t>
            </a:r>
            <a:endParaRPr lang="ko-KR" altLang="en-US" dirty="0"/>
          </a:p>
        </p:txBody>
      </p:sp>
      <p:cxnSp>
        <p:nvCxnSpPr>
          <p:cNvPr id="88" name="꺾인 연결선 87"/>
          <p:cNvCxnSpPr>
            <a:stCxn id="87" idx="3"/>
            <a:endCxn id="86" idx="1"/>
          </p:cNvCxnSpPr>
          <p:nvPr/>
        </p:nvCxnSpPr>
        <p:spPr>
          <a:xfrm flipV="1">
            <a:off x="7252922" y="1853738"/>
            <a:ext cx="1018842" cy="322266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5619776" y="3437896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0x999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5465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224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19202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8180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37157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46135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55113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64091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730689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820466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9102441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0000216" y="18537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0224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19202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28180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37157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46135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55113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64091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730689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820466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9102441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10000216" y="275151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10224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19202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28180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37157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/>
          <p:cNvSpPr/>
          <p:nvPr/>
        </p:nvSpPr>
        <p:spPr>
          <a:xfrm>
            <a:off x="46135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55113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64091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730689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820466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9102441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/>
          <p:cNvSpPr/>
          <p:nvPr/>
        </p:nvSpPr>
        <p:spPr>
          <a:xfrm>
            <a:off x="10000216" y="364928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10224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19202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>
            <a:off x="28180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>
            <a:off x="37157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46135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55113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64091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730689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820466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/>
          <p:cNvSpPr/>
          <p:nvPr/>
        </p:nvSpPr>
        <p:spPr>
          <a:xfrm>
            <a:off x="9102441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10000216" y="4547063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10237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19215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/>
          <p:cNvSpPr/>
          <p:nvPr/>
        </p:nvSpPr>
        <p:spPr>
          <a:xfrm>
            <a:off x="28193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37170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46148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/>
          <p:cNvSpPr/>
          <p:nvPr/>
        </p:nvSpPr>
        <p:spPr>
          <a:xfrm>
            <a:off x="55126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/>
          <p:cNvSpPr/>
          <p:nvPr/>
        </p:nvSpPr>
        <p:spPr>
          <a:xfrm>
            <a:off x="64104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/>
          <p:cNvSpPr/>
          <p:nvPr/>
        </p:nvSpPr>
        <p:spPr>
          <a:xfrm>
            <a:off x="730818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/>
          <p:cNvSpPr/>
          <p:nvPr/>
        </p:nvSpPr>
        <p:spPr>
          <a:xfrm>
            <a:off x="820596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9103738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10001513" y="5444838"/>
            <a:ext cx="897775" cy="8977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342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</TotalTime>
  <Words>478</Words>
  <Application>Microsoft Office PowerPoint</Application>
  <PresentationFormat>와이드스크린</PresentationFormat>
  <Paragraphs>168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29</cp:revision>
  <dcterms:created xsi:type="dcterms:W3CDTF">2026-05-07T00:25:39Z</dcterms:created>
  <dcterms:modified xsi:type="dcterms:W3CDTF">2026-05-14T07:17:30Z</dcterms:modified>
</cp:coreProperties>
</file>